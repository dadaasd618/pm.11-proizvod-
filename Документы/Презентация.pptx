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2" r:id="rId6"/>
    <p:sldId id="266" r:id="rId7"/>
    <p:sldId id="268" r:id="rId8"/>
    <p:sldId id="265" r:id="rId9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9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3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8687-0755-15E7-6E75-B7DD34D5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DF095-2A41-8A6D-FA96-BB1E82F86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E0BC7-AE62-94F0-4D9E-27308ECAB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65A89-D71A-0B30-DA3A-4CFEB2FAA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8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50480-8D6B-4B66-353A-6D25E738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2D1F7-B13F-41DB-B43D-CBC39F1B6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F1986-37A8-7B7D-7D24-0A59B92E4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16AA1-2B8E-C03F-155D-722BE09D6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53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564C-2709-A5FD-FE75-EEA6E88D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96CDA-C5A2-28E7-9325-B3835B918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296D3-9B40-6BBF-8CB8-920C4425A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B10AA-9A64-3304-FF8C-1DD05986C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72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905" y="23071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44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Учёт госпитализаций и оказанных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ru-RU" sz="44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медицинских услуг</a:t>
            </a:r>
            <a:endParaRPr lang="en-US" sz="4450" dirty="0"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78110" y="12158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ПМ.11 Разработка, администрирование и защита баз данных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773738"/>
            <a:ext cx="13042821" cy="1690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FEF22-48A3-BF3B-9F9B-4FF913D5273D}"/>
              </a:ext>
            </a:extLst>
          </p:cNvPr>
          <p:cNvSpPr txBox="1"/>
          <p:nvPr/>
        </p:nvSpPr>
        <p:spPr>
          <a:xfrm>
            <a:off x="3941921" y="34364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12" name="Picture 14" descr="touch-icon-ipad-retina">
            <a:extLst>
              <a:ext uri="{FF2B5EF4-FFF2-40B4-BE49-F238E27FC236}">
                <a16:creationId xmlns:a16="http://schemas.microsoft.com/office/drawing/2014/main" id="{CFBB7716-C69E-CE8F-A83F-96247B05F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216" y="99715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03AC1DAC-A9D3-28AF-1562-5EC808D84599}"/>
              </a:ext>
            </a:extLst>
          </p:cNvPr>
          <p:cNvSpPr/>
          <p:nvPr/>
        </p:nvSpPr>
        <p:spPr>
          <a:xfrm>
            <a:off x="9041942" y="4455862"/>
            <a:ext cx="5340808" cy="305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Выполнил: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Путников Дмитрий Васильевич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Группа 23П-2, специальность 09.02.07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«Информационные системы и программирование»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Форма обучения: очная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Руководитель: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Махнев Александр Анатольевич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C1AE8B-3CED-1BC4-8A4E-BD13479E1F75}"/>
              </a:ext>
            </a:extLst>
          </p:cNvPr>
          <p:cNvSpPr/>
          <p:nvPr/>
        </p:nvSpPr>
        <p:spPr>
          <a:xfrm>
            <a:off x="12879659" y="7704038"/>
            <a:ext cx="1750741" cy="4939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C6919E7-B659-E6EC-7866-BAE6648C902D}"/>
              </a:ext>
            </a:extLst>
          </p:cNvPr>
          <p:cNvSpPr/>
          <p:nvPr/>
        </p:nvSpPr>
        <p:spPr>
          <a:xfrm>
            <a:off x="5836801" y="7894649"/>
            <a:ext cx="57456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г.</a:t>
            </a: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Слободской</a:t>
            </a: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 2026г.</a:t>
            </a:r>
            <a:endParaRPr lang="en-US" sz="20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9395-DEF2-7E73-E27A-E7F65D60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2">
            <a:extLst>
              <a:ext uri="{FF2B5EF4-FFF2-40B4-BE49-F238E27FC236}">
                <a16:creationId xmlns:a16="http://schemas.microsoft.com/office/drawing/2014/main" id="{1E3AB582-F5E6-79DA-F84E-8E9F783F167C}"/>
              </a:ext>
            </a:extLst>
          </p:cNvPr>
          <p:cNvSpPr/>
          <p:nvPr/>
        </p:nvSpPr>
        <p:spPr>
          <a:xfrm>
            <a:off x="662821" y="674966"/>
            <a:ext cx="631721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Цели и задачи практики</a:t>
            </a:r>
            <a:endParaRPr lang="en-US" sz="4150" dirty="0">
              <a:cs typeface="Times New Roman" panose="02020603050405020304" pitchFamily="18" charset="0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2318FCBB-D1C7-C729-7E32-DAB7FBF6C21D}"/>
              </a:ext>
            </a:extLst>
          </p:cNvPr>
          <p:cNvSpPr/>
          <p:nvPr/>
        </p:nvSpPr>
        <p:spPr>
          <a:xfrm>
            <a:off x="803612" y="1929828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В рамках производственной практики по модулю ПМ.11 необходимо было </a:t>
            </a:r>
            <a:r>
              <a:rPr lang="ru-RU" sz="16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разработать базу данных для учёта госпитализаций и оказанных медицинских услуг в ГБУЗ НО «Тоншаевская центральная районная больница».</a:t>
            </a:r>
            <a:endParaRPr lang="en-US" sz="1650" dirty="0">
              <a:cs typeface="Times New Roman" panose="02020603050405020304" pitchFamily="18" charset="0"/>
            </a:endParaRPr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8174C31B-F5E3-CD8E-1B69-47DEC01EBC0A}"/>
              </a:ext>
            </a:extLst>
          </p:cNvPr>
          <p:cNvSpPr/>
          <p:nvPr/>
        </p:nvSpPr>
        <p:spPr>
          <a:xfrm>
            <a:off x="744260" y="2967276"/>
            <a:ext cx="6471285" cy="2206585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3" name="Shape 5">
            <a:extLst>
              <a:ext uri="{FF2B5EF4-FFF2-40B4-BE49-F238E27FC236}">
                <a16:creationId xmlns:a16="http://schemas.microsoft.com/office/drawing/2014/main" id="{AA9B2007-07D8-0ED3-7F2A-EDB0FCE11527}"/>
              </a:ext>
            </a:extLst>
          </p:cNvPr>
          <p:cNvSpPr/>
          <p:nvPr/>
        </p:nvSpPr>
        <p:spPr>
          <a:xfrm>
            <a:off x="767120" y="2990136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4F8186A6-24BF-5373-A3C4-EA84A20F6626}"/>
              </a:ext>
            </a:extLst>
          </p:cNvPr>
          <p:cNvSpPr/>
          <p:nvPr/>
        </p:nvSpPr>
        <p:spPr>
          <a:xfrm>
            <a:off x="3820358" y="310979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1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58BEF3D6-69F0-A6E9-2287-11356E07EAA1}"/>
              </a:ext>
            </a:extLst>
          </p:cNvPr>
          <p:cNvSpPr/>
          <p:nvPr/>
        </p:nvSpPr>
        <p:spPr>
          <a:xfrm>
            <a:off x="979765" y="382738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База данных</a:t>
            </a:r>
            <a:endParaRPr lang="en-US" sz="2050" dirty="0">
              <a:cs typeface="Times New Roman" panose="02020603050405020304" pitchFamily="18" charset="0"/>
            </a:endParaRPr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7BF989A9-4A63-5ACF-3510-60D08BCBDE0A}"/>
              </a:ext>
            </a:extLst>
          </p:cNvPr>
          <p:cNvSpPr/>
          <p:nvPr/>
        </p:nvSpPr>
        <p:spPr>
          <a:xfrm>
            <a:off x="979765" y="4279225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ru-RU" sz="16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Разработать реляционную БД из 8 таблиц в MS SQL Server с соблюдением 3НФ</a:t>
            </a:r>
            <a:endParaRPr lang="en-US" sz="1650" dirty="0">
              <a:cs typeface="Times New Roman" panose="02020603050405020304" pitchFamily="18" charset="0"/>
            </a:endParaRPr>
          </a:p>
        </p:txBody>
      </p:sp>
      <p:sp>
        <p:nvSpPr>
          <p:cNvPr id="57" name="Shape 9">
            <a:extLst>
              <a:ext uri="{FF2B5EF4-FFF2-40B4-BE49-F238E27FC236}">
                <a16:creationId xmlns:a16="http://schemas.microsoft.com/office/drawing/2014/main" id="{1DBCFA71-93F7-27FC-D0A6-BA25821E3336}"/>
              </a:ext>
            </a:extLst>
          </p:cNvPr>
          <p:cNvSpPr/>
          <p:nvPr/>
        </p:nvSpPr>
        <p:spPr>
          <a:xfrm>
            <a:off x="7414855" y="2967276"/>
            <a:ext cx="6471285" cy="2206585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BF5A7E28-1860-40A7-C91C-DB34E3F3D469}"/>
              </a:ext>
            </a:extLst>
          </p:cNvPr>
          <p:cNvSpPr/>
          <p:nvPr/>
        </p:nvSpPr>
        <p:spPr>
          <a:xfrm>
            <a:off x="7437715" y="2990136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1C3827F6-6BA9-BA65-DB03-43C2AB5004AF}"/>
              </a:ext>
            </a:extLst>
          </p:cNvPr>
          <p:cNvSpPr/>
          <p:nvPr/>
        </p:nvSpPr>
        <p:spPr>
          <a:xfrm>
            <a:off x="10490954" y="310979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2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0F893D51-0D23-3A07-175B-9F238A6A8480}"/>
              </a:ext>
            </a:extLst>
          </p:cNvPr>
          <p:cNvSpPr/>
          <p:nvPr/>
        </p:nvSpPr>
        <p:spPr>
          <a:xfrm>
            <a:off x="7650361" y="382738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Приложения</a:t>
            </a:r>
            <a:endParaRPr lang="en-US" sz="2050" dirty="0">
              <a:cs typeface="Times New Roman" panose="02020603050405020304" pitchFamily="18" charset="0"/>
            </a:endParaRPr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2C0F1535-BD06-3B67-9F4D-8AD0D6469EB0}"/>
              </a:ext>
            </a:extLst>
          </p:cNvPr>
          <p:cNvSpPr/>
          <p:nvPr/>
        </p:nvSpPr>
        <p:spPr>
          <a:xfrm>
            <a:off x="7650361" y="4279225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ru-RU" sz="16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Разработать WPF-приложение на C# для работы с БД с реализацией CRUD</a:t>
            </a:r>
            <a:endParaRPr lang="en-US" sz="1650" dirty="0">
              <a:cs typeface="Times New Roman" panose="02020603050405020304" pitchFamily="18" charset="0"/>
            </a:endParaRPr>
          </a:p>
        </p:txBody>
      </p:sp>
      <p:sp>
        <p:nvSpPr>
          <p:cNvPr id="62" name="Shape 14">
            <a:extLst>
              <a:ext uri="{FF2B5EF4-FFF2-40B4-BE49-F238E27FC236}">
                <a16:creationId xmlns:a16="http://schemas.microsoft.com/office/drawing/2014/main" id="{D9178E9C-99A1-FDFE-DB2A-FC87619911AB}"/>
              </a:ext>
            </a:extLst>
          </p:cNvPr>
          <p:cNvSpPr/>
          <p:nvPr/>
        </p:nvSpPr>
        <p:spPr>
          <a:xfrm>
            <a:off x="744260" y="5373172"/>
            <a:ext cx="6471285" cy="2206585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3BA3D8F5-E388-B1AD-36F1-7B47CE6ED43A}"/>
              </a:ext>
            </a:extLst>
          </p:cNvPr>
          <p:cNvSpPr/>
          <p:nvPr/>
        </p:nvSpPr>
        <p:spPr>
          <a:xfrm>
            <a:off x="767120" y="5396032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1F3F4CB0-50F6-0186-484C-E1BB3E4FFA65}"/>
              </a:ext>
            </a:extLst>
          </p:cNvPr>
          <p:cNvSpPr/>
          <p:nvPr/>
        </p:nvSpPr>
        <p:spPr>
          <a:xfrm>
            <a:off x="3820358" y="551568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3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6AF1C640-94AD-9779-8B21-468BA9B529E8}"/>
              </a:ext>
            </a:extLst>
          </p:cNvPr>
          <p:cNvSpPr/>
          <p:nvPr/>
        </p:nvSpPr>
        <p:spPr>
          <a:xfrm>
            <a:off x="979765" y="623327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Авторизация</a:t>
            </a:r>
            <a:endParaRPr lang="en-US" sz="2050" dirty="0">
              <a:cs typeface="Times New Roman" panose="02020603050405020304" pitchFamily="18" charset="0"/>
            </a:endParaRPr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121DEB39-E4B5-47FC-7E9D-E9E36DFEDA3E}"/>
              </a:ext>
            </a:extLst>
          </p:cNvPr>
          <p:cNvSpPr/>
          <p:nvPr/>
        </p:nvSpPr>
        <p:spPr>
          <a:xfrm>
            <a:off x="979765" y="6685121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ru-RU" sz="16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Реализовать авторизацию с проверкой логина/пароля и разграничением доступа</a:t>
            </a:r>
            <a:endParaRPr lang="en-US" sz="1650" dirty="0">
              <a:cs typeface="Times New Roman" panose="02020603050405020304" pitchFamily="18" charset="0"/>
            </a:endParaRPr>
          </a:p>
        </p:txBody>
      </p:sp>
      <p:sp>
        <p:nvSpPr>
          <p:cNvPr id="67" name="Shape 19">
            <a:extLst>
              <a:ext uri="{FF2B5EF4-FFF2-40B4-BE49-F238E27FC236}">
                <a16:creationId xmlns:a16="http://schemas.microsoft.com/office/drawing/2014/main" id="{AC9B1705-041A-1AA0-0E10-7D329B4E467D}"/>
              </a:ext>
            </a:extLst>
          </p:cNvPr>
          <p:cNvSpPr/>
          <p:nvPr/>
        </p:nvSpPr>
        <p:spPr>
          <a:xfrm>
            <a:off x="7414855" y="5373172"/>
            <a:ext cx="6471285" cy="2206585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68" name="Shape 20">
            <a:extLst>
              <a:ext uri="{FF2B5EF4-FFF2-40B4-BE49-F238E27FC236}">
                <a16:creationId xmlns:a16="http://schemas.microsoft.com/office/drawing/2014/main" id="{E4A8617E-1C28-078B-2FEB-910841650244}"/>
              </a:ext>
            </a:extLst>
          </p:cNvPr>
          <p:cNvSpPr/>
          <p:nvPr/>
        </p:nvSpPr>
        <p:spPr>
          <a:xfrm>
            <a:off x="7437715" y="5396032"/>
            <a:ext cx="6425565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42D8764B-BDB1-3AAC-E335-94C83A137AED}"/>
              </a:ext>
            </a:extLst>
          </p:cNvPr>
          <p:cNvSpPr/>
          <p:nvPr/>
        </p:nvSpPr>
        <p:spPr>
          <a:xfrm>
            <a:off x="10490954" y="551568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4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70" name="Text 22">
            <a:extLst>
              <a:ext uri="{FF2B5EF4-FFF2-40B4-BE49-F238E27FC236}">
                <a16:creationId xmlns:a16="http://schemas.microsoft.com/office/drawing/2014/main" id="{E0FFF5A2-2835-F708-470D-380DD9FEC366}"/>
              </a:ext>
            </a:extLst>
          </p:cNvPr>
          <p:cNvSpPr/>
          <p:nvPr/>
        </p:nvSpPr>
        <p:spPr>
          <a:xfrm>
            <a:off x="7650361" y="623327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ru-RU" sz="20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Запросы и отчёты</a:t>
            </a:r>
            <a:endParaRPr lang="en-US" sz="2050" dirty="0">
              <a:cs typeface="Times New Roman" panose="02020603050405020304" pitchFamily="18" charset="0"/>
            </a:endParaRPr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03D112AF-29AF-DAFA-F6E4-22BE927878D2}"/>
              </a:ext>
            </a:extLst>
          </p:cNvPr>
          <p:cNvSpPr/>
          <p:nvPr/>
        </p:nvSpPr>
        <p:spPr>
          <a:xfrm>
            <a:off x="7650361" y="6685121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ru-RU" sz="16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Создать SQL-запросы и хранимую процедуру для отчётности</a:t>
            </a:r>
            <a:endParaRPr lang="en-US" sz="1650" dirty="0">
              <a:cs typeface="Times New Roman" panose="02020603050405020304" pitchFamily="18" charset="0"/>
            </a:endParaRPr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EB2A624B-6247-A7CF-174A-E9060BBCEEDF}"/>
              </a:ext>
            </a:extLst>
          </p:cNvPr>
          <p:cNvSpPr/>
          <p:nvPr/>
        </p:nvSpPr>
        <p:spPr>
          <a:xfrm>
            <a:off x="744260" y="151555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 useBgFill="1">
        <p:nvSpPr>
          <p:cNvPr id="73" name="Прямоугольник 72">
            <a:extLst>
              <a:ext uri="{FF2B5EF4-FFF2-40B4-BE49-F238E27FC236}">
                <a16:creationId xmlns:a16="http://schemas.microsoft.com/office/drawing/2014/main" id="{A6894351-1C6F-E7BC-2F4D-C6FCE580C871}"/>
              </a:ext>
            </a:extLst>
          </p:cNvPr>
          <p:cNvSpPr/>
          <p:nvPr/>
        </p:nvSpPr>
        <p:spPr>
          <a:xfrm>
            <a:off x="12850987" y="7717032"/>
            <a:ext cx="1750741" cy="5125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5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FEC2C6D4-FD92-3DAF-1D37-5EEE4E8C3080}"/>
              </a:ext>
            </a:extLst>
          </p:cNvPr>
          <p:cNvSpPr/>
          <p:nvPr/>
        </p:nvSpPr>
        <p:spPr>
          <a:xfrm>
            <a:off x="761047" y="670641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ER-диаграмма базы данных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3863FA5-AFD1-C7CB-B3ED-0482D2837610}"/>
              </a:ext>
            </a:extLst>
          </p:cNvPr>
          <p:cNvSpPr/>
          <p:nvPr/>
        </p:nvSpPr>
        <p:spPr>
          <a:xfrm>
            <a:off x="428538" y="1451094"/>
            <a:ext cx="4126837" cy="1416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0"/>
              </a:lnSpc>
            </a:pPr>
            <a:r>
              <a:rPr lang="ru-RU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База данных системы включает 8 взаимосвязанных таблиц, организованных в соответствии с третьей нормальной формой (3НФ). Между таблицами установлены связи типа 1:М.</a:t>
            </a:r>
            <a:endParaRPr lang="en-US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BEA2EEA-92CC-C840-E7B5-7857A0C262E4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9C7DC9B3-8D33-1D10-F1A8-CAD0E020E33F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A4B34D6-AC37-02C7-10D8-99579CC0D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376" y="1251830"/>
            <a:ext cx="10075024" cy="696860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54F25CA-4776-1D48-210B-678D68C7229B}"/>
              </a:ext>
            </a:extLst>
          </p:cNvPr>
          <p:cNvSpPr txBox="1"/>
          <p:nvPr/>
        </p:nvSpPr>
        <p:spPr>
          <a:xfrm>
            <a:off x="428538" y="2583006"/>
            <a:ext cx="35449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Сущности: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Пациент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Врач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Диагноз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Отделение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Палата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Госпитализация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Услуга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cs typeface="Times New Roman" panose="02020603050405020304" pitchFamily="18" charset="0"/>
              </a:rPr>
              <a:t>Назначение услуги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2">
            <a:extLst>
              <a:ext uri="{FF2B5EF4-FFF2-40B4-BE49-F238E27FC236}">
                <a16:creationId xmlns:a16="http://schemas.microsoft.com/office/drawing/2014/main" id="{C89DB78B-59D5-EBBD-86C4-E14AF8DFBD4E}"/>
              </a:ext>
            </a:extLst>
          </p:cNvPr>
          <p:cNvSpPr/>
          <p:nvPr/>
        </p:nvSpPr>
        <p:spPr>
          <a:xfrm>
            <a:off x="706993" y="555903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Схема базы данных</a:t>
            </a:r>
            <a:endParaRPr lang="en-US" sz="3950" dirty="0">
              <a:cs typeface="Times New Roman" panose="02020603050405020304" pitchFamily="18" charset="0"/>
            </a:endParaRPr>
          </a:p>
        </p:txBody>
      </p:sp>
      <p:sp useBgFill="1"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A73CD3E-7BAD-9BED-8B55-AEF43CEDF234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D1605E88-67BD-436E-D18E-7804501A5EA2}"/>
              </a:ext>
            </a:extLst>
          </p:cNvPr>
          <p:cNvSpPr/>
          <p:nvPr/>
        </p:nvSpPr>
        <p:spPr>
          <a:xfrm>
            <a:off x="706993" y="1187172"/>
            <a:ext cx="13042821" cy="45719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5B89A426-63C6-4C36-97BD-F543EB6C1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565546"/>
              </p:ext>
            </p:extLst>
          </p:nvPr>
        </p:nvGraphicFramePr>
        <p:xfrm>
          <a:off x="2082544" y="1672752"/>
          <a:ext cx="10465311" cy="5223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437">
                  <a:extLst>
                    <a:ext uri="{9D8B030D-6E8A-4147-A177-3AD203B41FA5}">
                      <a16:colId xmlns:a16="http://schemas.microsoft.com/office/drawing/2014/main" val="2089374852"/>
                    </a:ext>
                  </a:extLst>
                </a:gridCol>
                <a:gridCol w="3488437">
                  <a:extLst>
                    <a:ext uri="{9D8B030D-6E8A-4147-A177-3AD203B41FA5}">
                      <a16:colId xmlns:a16="http://schemas.microsoft.com/office/drawing/2014/main" val="1033226033"/>
                    </a:ext>
                  </a:extLst>
                </a:gridCol>
                <a:gridCol w="3488437">
                  <a:extLst>
                    <a:ext uri="{9D8B030D-6E8A-4147-A177-3AD203B41FA5}">
                      <a16:colId xmlns:a16="http://schemas.microsoft.com/office/drawing/2014/main" val="2582911580"/>
                    </a:ext>
                  </a:extLst>
                </a:gridCol>
              </a:tblGrid>
              <a:tr h="43300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Таблица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Первичный ключ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Внешние ключи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240398386"/>
                  </a:ext>
                </a:extLst>
              </a:tr>
              <a:tr h="4330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Пациент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Пациента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71167123"/>
                  </a:ext>
                </a:extLst>
              </a:tr>
              <a:tr h="4330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Врач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Врача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10943012"/>
                  </a:ext>
                </a:extLst>
              </a:tr>
              <a:tr h="4330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Диагноз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КодМКБ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01983625"/>
                  </a:ext>
                </a:extLst>
              </a:tr>
              <a:tr h="4330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Отделение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Отделения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Заведующего → Врач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1926308"/>
                  </a:ext>
                </a:extLst>
              </a:tr>
              <a:tr h="4330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Палата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Палаты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Отделения → Отделение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07456154"/>
                  </a:ext>
                </a:extLst>
              </a:tr>
              <a:tr h="122917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Госпитализация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Госпитализации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Пациента, 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Врача, 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Отделения, 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Палаты, </a:t>
                      </a:r>
                      <a:r>
                        <a:rPr lang="en-US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PreliminaryDiagnosisCode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FinalDiagnosisCode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00250164"/>
                  </a:ext>
                </a:extLst>
              </a:tr>
              <a:tr h="4330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Услуга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КодУслуги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87261779"/>
                  </a:ext>
                </a:extLst>
              </a:tr>
              <a:tr h="96378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НазначениеУслуги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ID_Госпитализации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КодУслуги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ID_НазначившегоВрача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ID_ВыполнившейМедсестры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56969906"/>
                  </a:ext>
                </a:extLst>
              </a:tr>
            </a:tbl>
          </a:graphicData>
        </a:graphic>
      </p:graphicFrame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6EB7853-9F5F-B423-EFAA-4BE08792D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544" y="1223129"/>
            <a:ext cx="10465310" cy="70064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9368" y="336925"/>
            <a:ext cx="613374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Архитектура приложений</a:t>
            </a:r>
            <a:endParaRPr lang="en-US" sz="3800" dirty="0"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2228" y="1416367"/>
            <a:ext cx="6395204" cy="3000589"/>
          </a:xfrm>
          <a:prstGeom prst="roundRect">
            <a:avLst>
              <a:gd name="adj" fmla="val 6174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63416" y="1502728"/>
            <a:ext cx="47625" cy="2824122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8573" y="163413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900" dirty="0" err="1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TonshaevaCRB_HospitalApp</a:t>
            </a:r>
            <a:r>
              <a:rPr lang="en-US" sz="19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 (WPF-</a:t>
            </a:r>
            <a:r>
              <a:rPr lang="ru-RU" sz="19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приложение)</a:t>
            </a:r>
            <a:endParaRPr lang="en-US" sz="1900" dirty="0"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8573" y="2106096"/>
            <a:ext cx="5891093" cy="200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ru-RU" sz="15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Основное приложение для всех категорий пользователей. Включает:</a:t>
            </a:r>
          </a:p>
          <a:p>
            <a:pPr marL="285750" indent="-285750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Авторизацию с проверкой логина/пароля</a:t>
            </a:r>
          </a:p>
          <a:p>
            <a:pPr marL="285750" indent="-285750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Главное окно с навигацией по разделам</a:t>
            </a:r>
          </a:p>
          <a:p>
            <a:pPr marL="285750" indent="-285750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CRUD-операции для всех таблиц</a:t>
            </a:r>
            <a:endParaRPr lang="en-US" sz="1500" dirty="0"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60588" y="1395413"/>
            <a:ext cx="2638306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Технологический стек</a:t>
            </a:r>
            <a:endParaRPr lang="en-US" sz="1900" dirty="0">
              <a:cs typeface="Times New Roman" panose="02020603050405020304" pitchFamily="18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0588" y="1888332"/>
            <a:ext cx="487323" cy="48732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257223" y="188833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C# / WPF</a:t>
            </a:r>
            <a:endParaRPr lang="en-US" sz="1900" dirty="0"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257223" y="2360295"/>
            <a:ext cx="569856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Язык программирования и фреймворк для разработки настольных приложений с графическим интерфейсом</a:t>
            </a:r>
            <a:endParaRPr lang="en-US" sz="1500" dirty="0">
              <a:cs typeface="Times New Roman" panose="02020603050405020304" pitchFamily="18" charset="0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0588" y="3275053"/>
            <a:ext cx="487323" cy="48732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257223" y="327505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9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Microsoft SQL Server/</a:t>
            </a:r>
            <a:r>
              <a:rPr lang="en-US" sz="1900" dirty="0" err="1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Microsoft.Data.SqlClient</a:t>
            </a:r>
            <a:endParaRPr lang="en-US" sz="1900" dirty="0"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257223" y="3747016"/>
            <a:ext cx="569856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Реляционная СУБД и библиотека для подключения .NET-</a:t>
            </a:r>
            <a:r>
              <a:rPr lang="en-US" sz="1500" dirty="0" err="1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приложений</a:t>
            </a:r>
            <a:r>
              <a:rPr lang="en-US" sz="15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 </a:t>
            </a:r>
            <a:endParaRPr lang="en-US" sz="1500" dirty="0">
              <a:cs typeface="Times New Roman" panose="02020603050405020304" pitchFamily="18" charset="0"/>
            </a:endParaRPr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0588" y="4661773"/>
            <a:ext cx="487323" cy="48732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57223" y="466177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.NET 8</a:t>
            </a:r>
            <a:endParaRPr lang="en-US" sz="1900" dirty="0">
              <a:cs typeface="Times New Roman" panose="02020603050405020304" pitchFamily="18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8257223" y="5133737"/>
            <a:ext cx="569856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Современная кроссплатформенная среда выполнения для разработки приложений</a:t>
            </a:r>
            <a:endParaRPr lang="en-US" sz="1500" dirty="0">
              <a:cs typeface="Times New Roman" panose="02020603050405020304" pitchFamily="18" charset="0"/>
            </a:endParaRPr>
          </a:p>
        </p:txBody>
      </p:sp>
      <p:sp useBgFill="1"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2975B31-5FE7-DE04-453B-C4ADB4142421}"/>
              </a:ext>
            </a:extLst>
          </p:cNvPr>
          <p:cNvSpPr/>
          <p:nvPr/>
        </p:nvSpPr>
        <p:spPr>
          <a:xfrm>
            <a:off x="12879659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B99555D5-37FC-186C-1066-0ACDD12E2604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AF32FDC4-FD36-0F2A-8E2C-D49C83E268DA}"/>
              </a:ext>
            </a:extLst>
          </p:cNvPr>
          <p:cNvSpPr/>
          <p:nvPr/>
        </p:nvSpPr>
        <p:spPr>
          <a:xfrm>
            <a:off x="711041" y="4661773"/>
            <a:ext cx="6395204" cy="3000589"/>
          </a:xfrm>
          <a:prstGeom prst="roundRect">
            <a:avLst>
              <a:gd name="adj" fmla="val 6174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78E78792-7A3D-3A97-1BF9-EB8C9B723FF1}"/>
              </a:ext>
            </a:extLst>
          </p:cNvPr>
          <p:cNvSpPr/>
          <p:nvPr/>
        </p:nvSpPr>
        <p:spPr>
          <a:xfrm>
            <a:off x="692229" y="4748134"/>
            <a:ext cx="47625" cy="2824122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F72A0A92-59F5-4F65-42E7-EB03ED5166F3}"/>
              </a:ext>
            </a:extLst>
          </p:cNvPr>
          <p:cNvSpPr/>
          <p:nvPr/>
        </p:nvSpPr>
        <p:spPr>
          <a:xfrm>
            <a:off x="997386" y="475087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ru-RU" sz="19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Роли пользователей в приложении</a:t>
            </a:r>
            <a:endParaRPr lang="en-US" sz="1900" dirty="0">
              <a:cs typeface="Times New Roman" panose="02020603050405020304" pitchFamily="18" charset="0"/>
            </a:endParaRPr>
          </a:p>
        </p:txBody>
      </p:sp>
      <p:graphicFrame>
        <p:nvGraphicFramePr>
          <p:cNvPr id="34" name="Таблица 33">
            <a:extLst>
              <a:ext uri="{FF2B5EF4-FFF2-40B4-BE49-F238E27FC236}">
                <a16:creationId xmlns:a16="http://schemas.microsoft.com/office/drawing/2014/main" id="{75D51594-B56C-C28D-1430-3ADB8AE1E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036885"/>
              </p:ext>
            </p:extLst>
          </p:nvPr>
        </p:nvGraphicFramePr>
        <p:xfrm>
          <a:off x="880943" y="5285548"/>
          <a:ext cx="5931098" cy="22098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965549">
                  <a:extLst>
                    <a:ext uri="{9D8B030D-6E8A-4147-A177-3AD203B41FA5}">
                      <a16:colId xmlns:a16="http://schemas.microsoft.com/office/drawing/2014/main" val="1078792094"/>
                    </a:ext>
                  </a:extLst>
                </a:gridCol>
                <a:gridCol w="2965549">
                  <a:extLst>
                    <a:ext uri="{9D8B030D-6E8A-4147-A177-3AD203B41FA5}">
                      <a16:colId xmlns:a16="http://schemas.microsoft.com/office/drawing/2014/main" val="3622422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Роль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Доступные разделы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594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Регистратор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Пациенты, Госпитализации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626712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Врач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Пациенты, Врачи, Госпитализации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64497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Медсестра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Госпитализации, Услуги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03338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Администратор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Все разделы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267667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DD0C-FF47-D7BB-79B2-27CDD083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3AAC611-DD74-8C3B-EC18-59572C7BDB11}"/>
              </a:ext>
            </a:extLst>
          </p:cNvPr>
          <p:cNvSpPr/>
          <p:nvPr/>
        </p:nvSpPr>
        <p:spPr>
          <a:xfrm>
            <a:off x="189963" y="373559"/>
            <a:ext cx="6657023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450"/>
              </a:lnSpc>
              <a:buNone/>
            </a:pPr>
            <a:r>
              <a:rPr lang="en-US" sz="43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Интерфейс приложений</a:t>
            </a:r>
            <a:endParaRPr lang="en-US" sz="4350" dirty="0"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8B39CB3-A36B-B20A-13ED-732DA5398AB1}"/>
              </a:ext>
            </a:extLst>
          </p:cNvPr>
          <p:cNvSpPr/>
          <p:nvPr/>
        </p:nvSpPr>
        <p:spPr>
          <a:xfrm>
            <a:off x="706993" y="1314605"/>
            <a:ext cx="1306758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>
              <a:lnSpc>
                <a:spcPts val="2750"/>
              </a:lnSpc>
            </a:pPr>
            <a:r>
              <a:rPr lang="ru-RU" sz="17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Все пользователи работают в одном приложении, но с разными правами доступа. Интерфейс адаптируется под роль вошедшего пользователя.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sp useBgFill="1"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766A6CF-C91E-6BD5-F5B3-5D1391E3E21C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2F838A98-13DF-3AE0-0C88-BE4AD8FCD99C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1F96949D-BA38-EE45-23D6-A1B0DBFB9C08}"/>
              </a:ext>
            </a:extLst>
          </p:cNvPr>
          <p:cNvSpPr/>
          <p:nvPr/>
        </p:nvSpPr>
        <p:spPr>
          <a:xfrm>
            <a:off x="600313" y="2582760"/>
            <a:ext cx="4355783" cy="2344460"/>
          </a:xfrm>
          <a:prstGeom prst="roundRect">
            <a:avLst>
              <a:gd name="adj" fmla="val 1429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7EB0D737-DA60-14D3-44AD-72CA43D4EA7D}"/>
              </a:ext>
            </a:extLst>
          </p:cNvPr>
          <p:cNvSpPr/>
          <p:nvPr/>
        </p:nvSpPr>
        <p:spPr>
          <a:xfrm>
            <a:off x="823555" y="2785469"/>
            <a:ext cx="2232898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Окно авторизации</a:t>
            </a:r>
            <a:endParaRPr lang="en-US" sz="2150" dirty="0">
              <a:cs typeface="Times New Roman" panose="02020603050405020304" pitchFamily="18" charset="0"/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5E4BC081-1B4A-FE12-72DB-4C687EBABEB2}"/>
              </a:ext>
            </a:extLst>
          </p:cNvPr>
          <p:cNvSpPr/>
          <p:nvPr/>
        </p:nvSpPr>
        <p:spPr>
          <a:xfrm>
            <a:off x="823555" y="3134322"/>
            <a:ext cx="39092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ru-RU" sz="17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Пользователь вводит логин и пароль. При успешной авторизации открывается главное окно, иначе выводится сообщение об ошибке.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22474D-8ED1-277E-18DB-E9CB24D2E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779" y="2083085"/>
            <a:ext cx="5601482" cy="5772956"/>
          </a:xfrm>
          <a:prstGeom prst="rect">
            <a:avLst/>
          </a:prstGeom>
        </p:spPr>
      </p:pic>
      <p:sp>
        <p:nvSpPr>
          <p:cNvPr id="11" name="Shape 5">
            <a:extLst>
              <a:ext uri="{FF2B5EF4-FFF2-40B4-BE49-F238E27FC236}">
                <a16:creationId xmlns:a16="http://schemas.microsoft.com/office/drawing/2014/main" id="{09CD3D48-AE20-21ED-CA81-93716B5DC3AA}"/>
              </a:ext>
            </a:extLst>
          </p:cNvPr>
          <p:cNvSpPr/>
          <p:nvPr/>
        </p:nvSpPr>
        <p:spPr>
          <a:xfrm>
            <a:off x="600313" y="2602384"/>
            <a:ext cx="4355783" cy="2344460"/>
          </a:xfrm>
          <a:prstGeom prst="roundRect">
            <a:avLst>
              <a:gd name="adj" fmla="val 1429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D41B506-D30C-8BE8-F7EB-027B2E84CAE3}"/>
              </a:ext>
            </a:extLst>
          </p:cNvPr>
          <p:cNvSpPr/>
          <p:nvPr/>
        </p:nvSpPr>
        <p:spPr>
          <a:xfrm>
            <a:off x="1829395" y="2729634"/>
            <a:ext cx="2232898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ts val="2700"/>
              </a:lnSpc>
            </a:pPr>
            <a:r>
              <a:rPr lang="ru-RU" sz="21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Главное окно приложения</a:t>
            </a:r>
            <a:endParaRPr lang="en-US" sz="2150" dirty="0"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75E700F7-30F6-8FE7-B90D-000F01610973}"/>
              </a:ext>
            </a:extLst>
          </p:cNvPr>
          <p:cNvSpPr/>
          <p:nvPr/>
        </p:nvSpPr>
        <p:spPr>
          <a:xfrm>
            <a:off x="776406" y="3082146"/>
            <a:ext cx="413254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ru-RU" sz="17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Содержит кнопки для перехода к разделам «Пациенты», «Врачи», «Госпитализации», «Услуги». Доступ к разделам ограничен в зависимости от роли пользователя.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51336C2-D1F1-4A70-E406-2B171D030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338" y="2045098"/>
            <a:ext cx="9189597" cy="5849166"/>
          </a:xfrm>
          <a:prstGeom prst="rect">
            <a:avLst/>
          </a:prstGeom>
        </p:spPr>
      </p:pic>
      <p:sp>
        <p:nvSpPr>
          <p:cNvPr id="18" name="Shape 5">
            <a:extLst>
              <a:ext uri="{FF2B5EF4-FFF2-40B4-BE49-F238E27FC236}">
                <a16:creationId xmlns:a16="http://schemas.microsoft.com/office/drawing/2014/main" id="{CC0ED53D-B6BB-B61B-1896-36D0F5D59B29}"/>
              </a:ext>
            </a:extLst>
          </p:cNvPr>
          <p:cNvSpPr/>
          <p:nvPr/>
        </p:nvSpPr>
        <p:spPr>
          <a:xfrm>
            <a:off x="599594" y="2592572"/>
            <a:ext cx="4355783" cy="2344460"/>
          </a:xfrm>
          <a:prstGeom prst="roundRect">
            <a:avLst>
              <a:gd name="adj" fmla="val 1429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E6D512B-2529-CED6-19E1-853D6809C4CC}"/>
              </a:ext>
            </a:extLst>
          </p:cNvPr>
          <p:cNvSpPr/>
          <p:nvPr/>
        </p:nvSpPr>
        <p:spPr>
          <a:xfrm>
            <a:off x="706275" y="2680465"/>
            <a:ext cx="4201954" cy="5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-457200" rtl="1">
              <a:lnSpc>
                <a:spcPts val="2700"/>
              </a:lnSpc>
            </a:pPr>
            <a:r>
              <a:rPr lang="ru-RU" sz="2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Форма работы с «Пациенты»</a:t>
            </a:r>
            <a:endParaRPr lang="en-US" sz="2000" dirty="0">
              <a:cs typeface="Times New Roman" panose="02020603050405020304" pitchFamily="18" charset="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B90040B6-8A4E-3D20-6F4F-0DF49C567C0B}"/>
              </a:ext>
            </a:extLst>
          </p:cNvPr>
          <p:cNvSpPr/>
          <p:nvPr/>
        </p:nvSpPr>
        <p:spPr>
          <a:xfrm>
            <a:off x="753424" y="3112897"/>
            <a:ext cx="424910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ru-RU" sz="17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Позволяет добавлять, просматривать, редактировать и удалять записи о пациентах. Данные отображаются в таблице, поля для ввода расположены сверху.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4F5A114-E4CB-9D99-69C3-A7FBF5B88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591" y="2019610"/>
            <a:ext cx="9366409" cy="5917455"/>
          </a:xfrm>
          <a:prstGeom prst="rect">
            <a:avLst/>
          </a:prstGeom>
        </p:spPr>
      </p:pic>
      <p:sp>
        <p:nvSpPr>
          <p:cNvPr id="23" name="Shape 5">
            <a:extLst>
              <a:ext uri="{FF2B5EF4-FFF2-40B4-BE49-F238E27FC236}">
                <a16:creationId xmlns:a16="http://schemas.microsoft.com/office/drawing/2014/main" id="{98C54138-7E8D-4D36-35BB-6A2F33D9F36C}"/>
              </a:ext>
            </a:extLst>
          </p:cNvPr>
          <p:cNvSpPr/>
          <p:nvPr/>
        </p:nvSpPr>
        <p:spPr>
          <a:xfrm>
            <a:off x="575187" y="2572948"/>
            <a:ext cx="4355783" cy="2344460"/>
          </a:xfrm>
          <a:prstGeom prst="roundRect">
            <a:avLst>
              <a:gd name="adj" fmla="val 1429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3E40BE7A-B712-33A8-9745-DD498CC1F5F7}"/>
              </a:ext>
            </a:extLst>
          </p:cNvPr>
          <p:cNvSpPr/>
          <p:nvPr/>
        </p:nvSpPr>
        <p:spPr>
          <a:xfrm>
            <a:off x="730682" y="3114977"/>
            <a:ext cx="424910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ru-RU" sz="17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Предназначена для управления данными о врачах: добавление, редактирование, увольнение. Список отображается в таблице с возможностью выбора записи.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E48FC6EF-B78D-5EFA-5820-5358CD1F4E0A}"/>
              </a:ext>
            </a:extLst>
          </p:cNvPr>
          <p:cNvSpPr/>
          <p:nvPr/>
        </p:nvSpPr>
        <p:spPr>
          <a:xfrm>
            <a:off x="751280" y="2667194"/>
            <a:ext cx="4201954" cy="5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-457200" rtl="1">
              <a:lnSpc>
                <a:spcPts val="2700"/>
              </a:lnSpc>
            </a:pPr>
            <a:r>
              <a:rPr lang="ru-RU" sz="2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Форма работы с «Врачи»</a:t>
            </a:r>
            <a:endParaRPr lang="en-US" sz="2000" dirty="0">
              <a:cs typeface="Times New Roman" panose="02020603050405020304" pitchFamily="18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4939F61-B91D-3FAB-6E1D-65614018A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160" y="2010835"/>
            <a:ext cx="9412839" cy="592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40EF-7F83-CD0C-AA3D-5A26C943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E08F010-3C58-0880-95BF-48B876864FCD}"/>
              </a:ext>
            </a:extLst>
          </p:cNvPr>
          <p:cNvSpPr/>
          <p:nvPr/>
        </p:nvSpPr>
        <p:spPr>
          <a:xfrm>
            <a:off x="694611" y="39758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Запросы и </a:t>
            </a:r>
            <a:r>
              <a:rPr lang="ru-RU" sz="39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хранимая процедура</a:t>
            </a:r>
            <a:endParaRPr lang="en-US" sz="3900" dirty="0"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EE31E0F0-B90D-C62B-3B0C-E6ACB5813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068" y="1425037"/>
            <a:ext cx="297656" cy="29765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2E9AF09B-374D-48E9-9DFA-ED9679B2EC42}"/>
              </a:ext>
            </a:extLst>
          </p:cNvPr>
          <p:cNvSpPr/>
          <p:nvPr/>
        </p:nvSpPr>
        <p:spPr>
          <a:xfrm>
            <a:off x="724496" y="14189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ru-RU" sz="19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Запрос №1 — Активные госпитализации</a:t>
            </a:r>
            <a:endParaRPr lang="en-US" sz="1950" dirty="0"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2B3F359-8868-D99B-B49C-19F5BC832EBA}"/>
              </a:ext>
            </a:extLst>
          </p:cNvPr>
          <p:cNvSpPr/>
          <p:nvPr/>
        </p:nvSpPr>
        <p:spPr>
          <a:xfrm>
            <a:off x="724497" y="1802346"/>
            <a:ext cx="5081944" cy="155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sz="16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Назначение: показывает список пациентов, которые находятся на лечении в данный момент (ещё не выписаны).</a:t>
            </a:r>
          </a:p>
          <a:p>
            <a:pPr>
              <a:lnSpc>
                <a:spcPts val="2300"/>
              </a:lnSpc>
            </a:pPr>
            <a:r>
              <a:rPr lang="ru-RU" sz="16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Что выводит: фамилию и имя пациента, название отделения, номер палаты.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82E9147B-3210-1A0C-4FE2-3A477662D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926" y="3533357"/>
            <a:ext cx="297656" cy="297656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F9B4D519-5CFB-9B4B-F0F7-91280E58B9C6}"/>
              </a:ext>
            </a:extLst>
          </p:cNvPr>
          <p:cNvSpPr/>
          <p:nvPr/>
        </p:nvSpPr>
        <p:spPr>
          <a:xfrm>
            <a:off x="737354" y="35272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ru-RU" sz="19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Запрос №2 — Загруженность палат</a:t>
            </a:r>
            <a:endParaRPr lang="en-US" sz="1950" dirty="0"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CCB3AA4-77AD-D616-062F-57CBAA4B4C7A}"/>
              </a:ext>
            </a:extLst>
          </p:cNvPr>
          <p:cNvSpPr/>
          <p:nvPr/>
        </p:nvSpPr>
        <p:spPr>
          <a:xfrm>
            <a:off x="724495" y="3935441"/>
            <a:ext cx="5234345" cy="165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sz="15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Назначение: используется старшей медсестрой или заведующим отделением для контроля занятости коечного фонда.</a:t>
            </a:r>
          </a:p>
          <a:p>
            <a:pPr>
              <a:lnSpc>
                <a:spcPts val="2300"/>
              </a:lnSpc>
            </a:pPr>
            <a:r>
              <a:rPr lang="ru-RU" sz="15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Что выводит: для каждой палаты — название отделения, номер палаты и количество занятых мест.</a:t>
            </a:r>
            <a:endParaRPr lang="en-US" sz="1550" dirty="0"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508AFD7F-3B2A-5815-1905-DE4BB0DF8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565" y="5703531"/>
            <a:ext cx="297656" cy="297656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3EE1EC5E-5F51-05B4-E442-FEC92880E198}"/>
              </a:ext>
            </a:extLst>
          </p:cNvPr>
          <p:cNvSpPr/>
          <p:nvPr/>
        </p:nvSpPr>
        <p:spPr>
          <a:xfrm>
            <a:off x="706993" y="5697459"/>
            <a:ext cx="323088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ru-RU" sz="19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Хранимая процедура — Отчёт за период</a:t>
            </a:r>
            <a:endParaRPr lang="en-US" sz="1950" dirty="0">
              <a:cs typeface="Times New Roman" panose="020206030504050203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14114A5-B82D-71D3-C7B2-05BCB9AB3D4A}"/>
              </a:ext>
            </a:extLst>
          </p:cNvPr>
          <p:cNvSpPr/>
          <p:nvPr/>
        </p:nvSpPr>
        <p:spPr>
          <a:xfrm>
            <a:off x="706994" y="6181210"/>
            <a:ext cx="5099448" cy="165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sz="15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Назначение: формирует отчёт по госпитализациям за любой заданный период. Процедура принимает дату начала и дату окончания.</a:t>
            </a:r>
          </a:p>
          <a:p>
            <a:pPr>
              <a:lnSpc>
                <a:spcPts val="2300"/>
              </a:lnSpc>
            </a:pPr>
            <a:r>
              <a:rPr lang="ru-RU" sz="155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Что выводит: фамилию и имя пациента, название отделения, дату и время поступления.</a:t>
            </a:r>
            <a:endParaRPr lang="en-US" sz="1550" dirty="0">
              <a:cs typeface="Times New Roman" panose="02020603050405020304" pitchFamily="18" charset="0"/>
            </a:endParaRPr>
          </a:p>
        </p:txBody>
      </p:sp>
      <p:sp useBgFill="1"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936108D-D186-A63B-A962-ECA641EA1DD8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A369821B-E14C-A902-27E8-18133FAB3D83}"/>
              </a:ext>
            </a:extLst>
          </p:cNvPr>
          <p:cNvSpPr/>
          <p:nvPr/>
        </p:nvSpPr>
        <p:spPr>
          <a:xfrm>
            <a:off x="706993" y="10549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65348B-9DCA-BABD-D501-69D02120D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403" y="1128155"/>
            <a:ext cx="6610034" cy="681454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17CFF13-8859-75EA-710C-151E9CA46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900" y="1106413"/>
            <a:ext cx="6592532" cy="691131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04E10BE-2CF2-2C67-3A79-9D667D45B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6423" y="1418965"/>
            <a:ext cx="8973978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3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7250AC-0432-CEA8-658B-62B3EEF0F202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76B5A554-C9E3-8763-05BD-CC2D06A4F391}"/>
              </a:ext>
            </a:extLst>
          </p:cNvPr>
          <p:cNvSpPr/>
          <p:nvPr/>
        </p:nvSpPr>
        <p:spPr>
          <a:xfrm>
            <a:off x="694611" y="628949"/>
            <a:ext cx="51567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Результаты практики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D7C85A3E-6B42-DE23-1E6C-96DC46CAED20}"/>
              </a:ext>
            </a:extLst>
          </p:cNvPr>
          <p:cNvSpPr/>
          <p:nvPr/>
        </p:nvSpPr>
        <p:spPr>
          <a:xfrm>
            <a:off x="694611" y="1645421"/>
            <a:ext cx="132411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ru-RU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В ходе производственной практики по модулю ПМ.11 успешно разработана база данных для учёта госпитализаций и оказанных медицинских услуг.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DDD52AD1-CE76-38BF-BF1F-2766C296215A}"/>
              </a:ext>
            </a:extLst>
          </p:cNvPr>
          <p:cNvSpPr/>
          <p:nvPr/>
        </p:nvSpPr>
        <p:spPr>
          <a:xfrm>
            <a:off x="694611" y="6593443"/>
            <a:ext cx="13241179" cy="1073825"/>
          </a:xfrm>
          <a:prstGeom prst="roundRect">
            <a:avLst>
              <a:gd name="adj" fmla="val 2772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3B17E7F5-FB07-6E05-0060-170308025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69" y="6888718"/>
            <a:ext cx="248007" cy="198358"/>
          </a:xfrm>
          <a:prstGeom prst="rect">
            <a:avLst/>
          </a:prstGeom>
        </p:spPr>
      </p:pic>
      <p:sp>
        <p:nvSpPr>
          <p:cNvPr id="33" name="Text 17">
            <a:extLst>
              <a:ext uri="{FF2B5EF4-FFF2-40B4-BE49-F238E27FC236}">
                <a16:creationId xmlns:a16="http://schemas.microsoft.com/office/drawing/2014/main" id="{9F813175-A5DC-D994-AD07-3718CB0EAAE5}"/>
              </a:ext>
            </a:extLst>
          </p:cNvPr>
          <p:cNvSpPr/>
          <p:nvPr/>
        </p:nvSpPr>
        <p:spPr>
          <a:xfrm>
            <a:off x="1339334" y="6816566"/>
            <a:ext cx="1239809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Исходный код проекта загружен на </a:t>
            </a:r>
            <a:r>
              <a:rPr lang="en-US" sz="155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GitHub</a:t>
            </a:r>
            <a:r>
              <a:rPr lang="en-US" sz="155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и доступен для проверки. Все поставленные цели практики выполнены в полном объёме.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01E70212-BAC8-36F8-2F53-A63B5C5ABAC0}"/>
              </a:ext>
            </a:extLst>
          </p:cNvPr>
          <p:cNvSpPr/>
          <p:nvPr/>
        </p:nvSpPr>
        <p:spPr>
          <a:xfrm>
            <a:off x="694611" y="1263470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" name="Таблица 34">
            <a:extLst>
              <a:ext uri="{FF2B5EF4-FFF2-40B4-BE49-F238E27FC236}">
                <a16:creationId xmlns:a16="http://schemas.microsoft.com/office/drawing/2014/main" id="{4D02B771-438F-3597-3696-295E75EF9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903663"/>
              </p:ext>
            </p:extLst>
          </p:nvPr>
        </p:nvGraphicFramePr>
        <p:xfrm>
          <a:off x="1735574" y="2362200"/>
          <a:ext cx="11675626" cy="3975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7813">
                  <a:extLst>
                    <a:ext uri="{9D8B030D-6E8A-4147-A177-3AD203B41FA5}">
                      <a16:colId xmlns:a16="http://schemas.microsoft.com/office/drawing/2014/main" val="1396104439"/>
                    </a:ext>
                  </a:extLst>
                </a:gridCol>
                <a:gridCol w="5837813">
                  <a:extLst>
                    <a:ext uri="{9D8B030D-6E8A-4147-A177-3AD203B41FA5}">
                      <a16:colId xmlns:a16="http://schemas.microsoft.com/office/drawing/2014/main" val="1564562064"/>
                    </a:ext>
                  </a:extLst>
                </a:gridCol>
              </a:tblGrid>
              <a:tr h="52225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072714393"/>
                  </a:ext>
                </a:extLst>
              </a:tr>
              <a:tr h="5222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Таблиц БД</a:t>
                      </a:r>
                      <a:endParaRPr lang="ru-RU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75020732"/>
                  </a:ext>
                </a:extLst>
              </a:tr>
              <a:tr h="5222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Записей в БД</a:t>
                      </a:r>
                      <a:endParaRPr lang="ru-RU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1086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17967302"/>
                  </a:ext>
                </a:extLst>
              </a:tr>
              <a:tr h="5222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Приложений</a:t>
                      </a:r>
                      <a:endParaRPr lang="ru-RU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 (WPF)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03071444"/>
                  </a:ext>
                </a:extLst>
              </a:tr>
              <a:tr h="8423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Уровней доступа</a:t>
                      </a:r>
                      <a:endParaRPr lang="ru-RU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 (регистратор, врач, медсестра, администратор)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462644567"/>
                  </a:ext>
                </a:extLst>
              </a:tr>
              <a:tr h="5222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Резервных копий</a:t>
                      </a:r>
                      <a:endParaRPr lang="ru-RU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67161443"/>
                  </a:ext>
                </a:extLst>
              </a:tr>
              <a:tr h="5222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SQL-</a:t>
                      </a:r>
                      <a:r>
                        <a:rPr lang="ru-RU" b="1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запросов</a:t>
                      </a:r>
                      <a:endParaRPr lang="ru-RU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 + хранимая процедура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825518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710</Words>
  <Application>Microsoft Office PowerPoint</Application>
  <PresentationFormat>Произвольный</PresentationFormat>
  <Paragraphs>133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Inter</vt:lpstr>
      <vt:lpstr>Arial</vt:lpstr>
      <vt:lpstr>Times New Roman</vt:lpstr>
      <vt:lpstr>DM Sans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Дмитрий Путников</cp:lastModifiedBy>
  <cp:revision>52</cp:revision>
  <dcterms:created xsi:type="dcterms:W3CDTF">2026-04-20T09:20:00Z</dcterms:created>
  <dcterms:modified xsi:type="dcterms:W3CDTF">2026-05-25T15:26:33Z</dcterms:modified>
</cp:coreProperties>
</file>